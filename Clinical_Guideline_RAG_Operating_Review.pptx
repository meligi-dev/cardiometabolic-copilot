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1f97e89f7c4f6f" /><Relationship Type="http://schemas.openxmlformats.org/officeDocument/2006/relationships/extended-properties" Target="/docProps/app.xml" Id="Rc89b85fd320f4759" /><Relationship Type="http://schemas.openxmlformats.org/officeDocument/2006/relationships/officeDocument" Target="/ppt/presentation.xml" Id="R2c0f79de12064a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a3100b6da148e7"/>
  </p:sldMasterIdLst>
  <p:notesMasterIdLst>
    <p:notesMasterId xmlns:r="http://schemas.openxmlformats.org/officeDocument/2006/relationships" r:id="R354ceb92d33d4aee"/>
  </p:notesMasterIdLst>
  <p:sldIdLst>
    <p:sldId xmlns:r="http://schemas.openxmlformats.org/officeDocument/2006/relationships" id="256" r:id="Rdea2f83664b744dd"/>
    <p:sldId xmlns:r="http://schemas.openxmlformats.org/officeDocument/2006/relationships" id="257" r:id="R28b9f6c225054bd0"/>
    <p:sldId xmlns:r="http://schemas.openxmlformats.org/officeDocument/2006/relationships" id="258" r:id="Rdfd30e20725c46c6"/>
    <p:sldId xmlns:r="http://schemas.openxmlformats.org/officeDocument/2006/relationships" id="259" r:id="Rb874030e7d3b4985"/>
    <p:sldId xmlns:r="http://schemas.openxmlformats.org/officeDocument/2006/relationships" id="260" r:id="R737bcfffe6aa4762"/>
    <p:sldId xmlns:r="http://schemas.openxmlformats.org/officeDocument/2006/relationships" id="261" r:id="Rfa5288c0c8294165"/>
    <p:sldId xmlns:r="http://schemas.openxmlformats.org/officeDocument/2006/relationships" id="262" r:id="R4db4aa1bbd8c45ce"/>
    <p:sldId xmlns:r="http://schemas.openxmlformats.org/officeDocument/2006/relationships" id="263" r:id="Ra1fbbff884474b78"/>
    <p:sldId xmlns:r="http://schemas.openxmlformats.org/officeDocument/2006/relationships" id="264" r:id="Rdf4a353d77d348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b2fe1b65b64d9a" /><Relationship Type="http://schemas.openxmlformats.org/officeDocument/2006/relationships/slideMaster" Target="/ppt/slideMasters/slideMaster1.xml" Id="R93a3100b6da148e7" /><Relationship Type="http://schemas.openxmlformats.org/officeDocument/2006/relationships/notesMaster" Target="/ppt/notesMasters/notesMaster1.xml" Id="R354ceb92d33d4aee" /><Relationship Type="http://schemas.openxmlformats.org/officeDocument/2006/relationships/presProps" Target="/ppt/presProps.xml" Id="R1539a6de8d564531" /><Relationship Type="http://schemas.openxmlformats.org/officeDocument/2006/relationships/viewProps" Target="/ppt/viewProps.xml" Id="R4ff6f4162a3c42b7" /><Relationship Type="http://schemas.openxmlformats.org/officeDocument/2006/relationships/tableStyles" Target="/ppt/tableStyles.xml" Id="R6aab468575ce48f3" /><Relationship Type="http://schemas.openxmlformats.org/officeDocument/2006/relationships/slide" Target="/ppt/slides/slide1.xml" Id="Rdea2f83664b744dd" /><Relationship Type="http://schemas.openxmlformats.org/officeDocument/2006/relationships/slide" Target="/ppt/slides/slide2.xml" Id="R28b9f6c225054bd0" /><Relationship Type="http://schemas.openxmlformats.org/officeDocument/2006/relationships/slide" Target="/ppt/slides/slide3.xml" Id="Rdfd30e20725c46c6" /><Relationship Type="http://schemas.openxmlformats.org/officeDocument/2006/relationships/slide" Target="/ppt/slides/slide4.xml" Id="Rb874030e7d3b4985" /><Relationship Type="http://schemas.openxmlformats.org/officeDocument/2006/relationships/slide" Target="/ppt/slides/slide5.xml" Id="R737bcfffe6aa4762" /><Relationship Type="http://schemas.openxmlformats.org/officeDocument/2006/relationships/slide" Target="/ppt/slides/slide6.xml" Id="Rfa5288c0c8294165" /><Relationship Type="http://schemas.openxmlformats.org/officeDocument/2006/relationships/slide" Target="/ppt/slides/slide7.xml" Id="R4db4aa1bbd8c45ce" /><Relationship Type="http://schemas.openxmlformats.org/officeDocument/2006/relationships/slide" Target="/ppt/slides/slide8.xml" Id="Ra1fbbff884474b78" /><Relationship Type="http://schemas.openxmlformats.org/officeDocument/2006/relationships/slide" Target="/ppt/slides/slide9.xml" Id="Rdf4a353d77d348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beb7d9f0b149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be2f5de312411b" /><Relationship Type="http://schemas.openxmlformats.org/officeDocument/2006/relationships/notesMaster" Target="/ppt/notesMasters/notesMaster1.xml" Id="Rca986b0e327e47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71cd1aaac34e7b" /><Relationship Type="http://schemas.openxmlformats.org/officeDocument/2006/relationships/notesMaster" Target="/ppt/notesMasters/notesMaster1.xml" Id="R53850787eb504f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1ea09c97464539" /><Relationship Type="http://schemas.openxmlformats.org/officeDocument/2006/relationships/notesMaster" Target="/ppt/notesMasters/notesMaster1.xml" Id="R1027dab30ca84d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6be25bcb814dd1" /><Relationship Type="http://schemas.openxmlformats.org/officeDocument/2006/relationships/notesMaster" Target="/ppt/notesMasters/notesMaster1.xml" Id="R26bce0b7f7cf49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c51db0cbf8436b" /><Relationship Type="http://schemas.openxmlformats.org/officeDocument/2006/relationships/notesMaster" Target="/ppt/notesMasters/notesMaster1.xml" Id="R1643527847f249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7767941eba4f6f" /><Relationship Type="http://schemas.openxmlformats.org/officeDocument/2006/relationships/notesMaster" Target="/ppt/notesMasters/notesMaster1.xml" Id="Rd5f1a2d1a57f4e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0a65e60c544d67" /><Relationship Type="http://schemas.openxmlformats.org/officeDocument/2006/relationships/notesMaster" Target="/ppt/notesMasters/notesMaster1.xml" Id="Rc4abc70ad02648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e30e1ec0314bee" /><Relationship Type="http://schemas.openxmlformats.org/officeDocument/2006/relationships/notesMaster" Target="/ppt/notesMasters/notesMaster1.xml" Id="Rf46bda44e2b54a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4916aa39cd4586" /><Relationship Type="http://schemas.openxmlformats.org/officeDocument/2006/relationships/notesMaster" Target="/ppt/notesMasters/notesMaster1.xml" Id="Reab99d12bb1e4c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PROJECT_OVERVIEW.md (project purpose and scope)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PROJECT_OVERVIEW.md (review structure)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PROJECT_OVERVIEW.md (purpose and capabilities)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PROJECT_OVERVIEW.md (architecture and frontend/backend details)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PROJECT_OVERVIEW.md (guideline sources and scope)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eval/evaluation_report.json (aggregate metrics and 10 benchmark cases)</a:t>
            </a:r>
          </a:p>
          <a:p xmlns:a="http://schemas.openxmlformats.org/drawingml/2006/main">
            <a:r>
              <a:t>- PROJECT_OVERVIEW.md (metric limitations)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PROJECT_OVERVIEW.md (current limitations and recommended next steps)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PROJECT_OVERVIEW.md (current limitations and recommended next steps)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PROJECT_OVERVIEW.md (deployment limitations and recommended next steps)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ca69c936649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980e8ee63445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6cc12a94f447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0e5a3847245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c783e455641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fb1c8e3a1410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7e700303f34ec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865d437104b7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d68495229431f" /><Relationship Type="http://schemas.openxmlformats.org/officeDocument/2006/relationships/image" Target="/ppt/media/image.png" Id="R88898556bce7421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613fb9366412f" /><Relationship Type="http://schemas.openxmlformats.org/officeDocument/2006/relationships/image" Target="/ppt/media/image2.png" Id="Rc4577250568840e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88898556bce7421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c4577250568840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46412487b44b6c" /><Relationship Type="http://schemas.openxmlformats.org/officeDocument/2006/relationships/slideLayout" Target="/ppt/slideLayouts/slideLayout1.xml" Id="R38c3fc90376e4a2e" /><Relationship Type="http://schemas.openxmlformats.org/officeDocument/2006/relationships/slideLayout" Target="/ppt/slideLayouts/slideLayout2.xml" Id="Re9be825e64664ba1" /><Relationship Type="http://schemas.openxmlformats.org/officeDocument/2006/relationships/slideLayout" Target="/ppt/slideLayouts/slideLayout3.xml" Id="R3f2305a411dc4997" /><Relationship Type="http://schemas.openxmlformats.org/officeDocument/2006/relationships/slideLayout" Target="/ppt/slideLayouts/slideLayout4.xml" Id="R7861e3f26b3e4e70" /><Relationship Type="http://schemas.openxmlformats.org/officeDocument/2006/relationships/slideLayout" Target="/ppt/slideLayouts/slideLayout5.xml" Id="R5f623e19211e4125" /><Relationship Type="http://schemas.openxmlformats.org/officeDocument/2006/relationships/slideLayout" Target="/ppt/slideLayouts/slideLayout6.xml" Id="R7013fd1cd08a4080" /><Relationship Type="http://schemas.openxmlformats.org/officeDocument/2006/relationships/slideLayout" Target="/ppt/slideLayouts/slideLayout7.xml" Id="Rc65778646c144746" /><Relationship Type="http://schemas.openxmlformats.org/officeDocument/2006/relationships/slideLayout" Target="/ppt/slideLayouts/slideLayout8.xml" Id="R4da160d83818419f" /><Relationship Type="http://schemas.openxmlformats.org/officeDocument/2006/relationships/slideLayout" Target="/ppt/slideLayouts/slideLayout9.xml" Id="R8a4045263916447a" /><Relationship Type="http://schemas.openxmlformats.org/officeDocument/2006/relationships/slideLayout" Target="/ppt/slideLayouts/slideLayout10.xml" Id="R5aa8c0690c7c400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c3fc90376e4a2e"/>
    <p:sldLayoutId xmlns:r="http://schemas.openxmlformats.org/officeDocument/2006/relationships" id="2147483650" r:id="Re9be825e64664ba1"/>
    <p:sldLayoutId xmlns:r="http://schemas.openxmlformats.org/officeDocument/2006/relationships" id="2147483651" r:id="R3f2305a411dc4997"/>
    <p:sldLayoutId xmlns:r="http://schemas.openxmlformats.org/officeDocument/2006/relationships" id="2147483652" r:id="R7861e3f26b3e4e70"/>
    <p:sldLayoutId xmlns:r="http://schemas.openxmlformats.org/officeDocument/2006/relationships" id="2147483653" r:id="R5f623e19211e4125"/>
    <p:sldLayoutId xmlns:r="http://schemas.openxmlformats.org/officeDocument/2006/relationships" id="2147483654" r:id="R7013fd1cd08a4080"/>
    <p:sldLayoutId xmlns:r="http://schemas.openxmlformats.org/officeDocument/2006/relationships" id="2147483655" r:id="Rc65778646c144746"/>
    <p:sldLayoutId xmlns:r="http://schemas.openxmlformats.org/officeDocument/2006/relationships" id="2147483656" r:id="R4da160d83818419f"/>
    <p:sldLayoutId xmlns:r="http://schemas.openxmlformats.org/officeDocument/2006/relationships" id="2147483657" r:id="R8a4045263916447a"/>
    <p:sldLayoutId xmlns:r="http://schemas.openxmlformats.org/officeDocument/2006/relationships" id="2147483658" r:id="R5aa8c0690c7c400b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518fc04f04bf3" /><Relationship Type="http://schemas.openxmlformats.org/officeDocument/2006/relationships/notesSlide" Target="/ppt/notesSlides/notesSlide1.xml" Id="R7eafdfdc85cd4d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f44a561484070" /><Relationship Type="http://schemas.openxmlformats.org/officeDocument/2006/relationships/notesSlide" Target="/ppt/notesSlides/notesSlide2.xml" Id="R711ba026c9684f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507d6a3f3463b" /><Relationship Type="http://schemas.openxmlformats.org/officeDocument/2006/relationships/notesSlide" Target="/ppt/notesSlides/notesSlide3.xml" Id="R49c8a68f41bd46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e705287e945ac" /><Relationship Type="http://schemas.openxmlformats.org/officeDocument/2006/relationships/notesSlide" Target="/ppt/notesSlides/notesSlide4.xml" Id="R8abecccbc4de42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748e35502544ea" /><Relationship Type="http://schemas.openxmlformats.org/officeDocument/2006/relationships/notesSlide" Target="/ppt/notesSlides/notesSlide5.xml" Id="R18be34c8412a42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642c5b12364c4c" /><Relationship Type="http://schemas.openxmlformats.org/officeDocument/2006/relationships/notesSlide" Target="/ppt/notesSlides/notesSlide6.xml" Id="Ra0104036da7044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c18d8292594a6a" /><Relationship Type="http://schemas.openxmlformats.org/officeDocument/2006/relationships/notesSlide" Target="/ppt/notesSlides/notesSlide7.xml" Id="R93c2bb62cb5345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3ec3c70d4c44e5" /><Relationship Type="http://schemas.openxmlformats.org/officeDocument/2006/relationships/notesSlide" Target="/ppt/notesSlides/notesSlide8.xml" Id="R0240aca46a3746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f2341eb4b431e" /><Relationship Type="http://schemas.openxmlformats.org/officeDocument/2006/relationships/notesSlide" Target="/ppt/notesSlides/notesSlide9.xml" Id="R458292c550624db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Clinical Guideline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RAG Copilot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Project operating review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20 August 2026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Prepared for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Project stakeholders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Repository snapshot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Clinical AI Project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66B7D3A3-0A03-4036-9F23-E9B01E92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965513"/>
            <a:ext cx="9448800" cy="106648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3800"/>
              <a:t>Operating 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Agenda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mlns:a="http://schemas.openxmlformats.org/drawingml/2006/main" x="393698" y="2667171"/>
          <a:ext xmlns:a="http://schemas.openxmlformats.org/drawingml/2006/main" cx="7835901" cy="328165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302"/>
                <a:gridCol w="7213599"/>
              </a:tblGrid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Purpose &amp; scope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Solution architecture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coverage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Benchmark scorecard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Readiness &amp; risks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6943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1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Actions &amp; decisions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9ED408-E4DF-E76D-2726-E1F5A04410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574A810-7A8E-054F-9F6B-09E9C694ECF9}" type="slidenum">
              <a:rPr sz="1100" b="0" i="0" u="none" cap="none" spc="0">
                <a:ln>
                  <a:noFill/>
                </a:ln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 b="0" i="0" u="none" kern="1200" cap="none" spc="0" baseline="0">
              <a:ln>
                <a:noFill/>
              </a:ln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794954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 clinical decision-support application, not a clinical authority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Clinical guideline Q&amp;A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Free-text questions with patient context.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Patient parameter analyzer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Structured cardiometabolic data and notes.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Evidence &amp; safety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Options, warnings, citations and follow-ups.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Decision-support guardrail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Supports—not replaces—judgment or local protocols.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schemeClr val="accent1"/>
                </a:solidFill>
                <a:latin typeface="Helvetica Neue Medium"/>
                <a:ea typeface="Helvetica Neue Medium"/>
                <a:cs typeface="Helvetica Neue Medium"/>
              </a:rPr>
              <a:t>For licensed healthcare professionals. The prototype retrieves guideline passages and returns structured clinical analysis.</a:t>
            </a:r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24C9B83B-D496-749A-8CAB-E5D5829B608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10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E0BC934-0157-542C-D5BB-4CBBF257CC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418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current workflow connects a clinician question to retrieved evidence</a:t>
            </a: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19C0BA-A84A-2A07-E313-F86616F2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09028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Structured intake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Patient parameters or a free-text clinical question.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C369A1-27DC-4417-B82E-882C775F89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7</a:t>
            </a:fld>
            <a:endParaRPr sz="1100"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440E49-120F-1A2F-57EB-B029345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1881916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1. FastAPI receives the request through /api.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2. ClinicalRAGEngine invokes Weaviate hybrid search and returns recommendation-level chunks with parent context.</a:t>
            </a:r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FF1B71-7343-3428-E1A5-013017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1881916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E5C8191-FF5D-721C-939A-810BF6FF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622601"/>
            <a:ext cx="4583034" cy="1097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Clinician experience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React + Vite renders recommendations and citations.</a:t>
            </a:r>
            <a:endParaRPr sz="1600" b="0" i="0" u="none" kern="1200" cap="none" spc="0" baseline="0">
              <a:ln>
                <a:noFill/>
              </a:ln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32FB920-4338-60DE-B515-40C9397A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620" y="4195489"/>
            <a:ext cx="6329680" cy="1656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3. An OpenAI-compatible endpoint produces structured clinical JSON.</a:t>
            </a:r>
          </a:p>
          <a:p xmlns:a="http://schemas.openxmlformats.org/drawingml/2006/main">
            <a:pPr marL="285750" marR="0" lvl="0" indent="-28575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Char char="•"/>
            </a:pPr>
            <a:r>
              <a:rPr sz="14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4. The frontend calls the local backend during development.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8B171C2-7536-1E2D-C49E-6F245F44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40" y="4195489"/>
            <a:ext cx="4583034" cy="2287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200" b="1" spc="1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</a:rPr>
              <a:t>DELIVERY</a:t>
            </a:r>
          </a:p>
        </p:txBody>
      </p:sp>
    </p:spTree>
    <p:extLst>
      <p:ext uri="{BB962C8B-B14F-4D97-AF65-F5344CB8AC3E}">
        <p14:creationId xmlns:p14="http://schemas.microsoft.com/office/powerpoint/2010/main" val="42045138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D03F6A93-D8A5-5E1B-B897-7FC43395C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8"/>
            <a:ext cx="7493001" cy="10402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Indexed material covers six clinical source groups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B8E9A03-4B2C-B18E-82B3-81A4A01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402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B9C5A0A-A5A1-9670-2D34-4ADE3A9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41402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8B1C048-B419-3AD6-93D8-57A7BA1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41402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C3191E-B483-A5B1-1BFC-8359BB5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159000"/>
            <a:ext cx="3568700" cy="3863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Retrieval can cover broader specialties, but the dedicated form and system prompt remain cardiometabolic-focused.</a:t>
            </a:r>
          </a:p>
        </p:txBody>
      </p:sp>
      <p:sp>
        <p:nvSpPr>
          <p:cNvPr id="3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2629DBE-08D2-7E4E-7363-739E24C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43471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48127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GOLD / GINA</a:t>
            </a:r>
            <a:endParaRPr sz="50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2024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D533C57-9277-DA71-420A-852FB37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52509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COPD and asthma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960D833-F6EA-C5E9-6DE4-D21876F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43471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485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IDSA / Sepsis</a:t>
            </a:r>
            <a:endParaRPr sz="50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2024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33EEB6-55CD-E6FE-95D2-55A288B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52509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Infectious disease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ABC2165-3103-0F8C-58B6-34BB686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43471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WHO / FDA</a:t>
            </a:r>
            <a:endParaRPr sz="50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formulary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48CB7DC-F282-1D69-FD55-0B1565A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52509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Dosing &amp; warnings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D5FE77B-90E1-5236-3990-7079CE7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256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0C351F7-AC2A-1B40-78B5-13B90FA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20256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1CEE641-9418-21DE-A949-29DF25A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20256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27408C0-0932-3E46-A6F1-86E2F1C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22326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ADA</a:t>
            </a:r>
            <a:endParaRPr sz="50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2024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6E44BE8-FC97-2F06-AD91-3DEB9C1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31363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Diabetes &amp; obesity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F499E89-5132-2D79-D060-7F883BF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22326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ACC/AHA</a:t>
            </a:r>
            <a:endParaRPr sz="50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2023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C3FD83C-7E51-3532-0CC5-3111AC37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31363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78551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HF, hypertension &amp; lipids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9C6FF59-91B0-A266-F811-6C509F3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22326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KDIGO</a:t>
            </a:r>
            <a:endParaRPr sz="50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2023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B933D0C-0148-034A-E964-ED7F56E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31363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CKD &amp; diabetes</a:t>
            </a:r>
            <a:endParaRPr sz="16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Slide Number Placeholder 13">
            <a:extLst xmlns:a="http://schemas.openxmlformats.org/drawingml/2006/main">
              <a:ext uri="{FF2B5EF4-FFF2-40B4-BE49-F238E27FC236}">
                <a16:creationId xmlns:a16="http://schemas.microsoft.com/office/drawing/2014/main" id="{1DD23EE5-5C87-3C71-2A21-882A4B8494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30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550199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benchmark indicates strong concept-match performance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85%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4782848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Guideline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retrieval recall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90%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Recommendation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recall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85%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Safety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recall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074698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294588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00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92.6%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4782848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Overall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F1 score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84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Checked-in evaluation report: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10 benchmark cases</a:t>
            </a:r>
          </a:p>
        </p:txBody>
      </p:sp>
      <p:sp>
        <p:nvSpPr>
          <p:cNvPr id="5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27" y="1938897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Internal retrieval / concept-match metrics; not proof of clinical validity.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28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Clinical deployment needs safety and governance work</a:t>
            </a:r>
            <a:endParaRPr/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5851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Evidence governance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Validate guideline sources and citations against current primary sources.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Versioning &amp; provenance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Effective dates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Formal source review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487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Clinical &amp; privacy controls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Add security and privacy controls before processing PHI.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Authentication &amp; authorization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Audit logging</a:t>
            </a:r>
          </a:p>
          <a:p xmlns:a="http://schemas.openxmlformats.org/drawingml/2006/main"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Encryption &amp; privacy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Current state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repository supports controlled development evaluation; it is not ready for independent clinical deployment.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Specific functionality risk: if the backend is unavailable, the frontend can generate a demonstration fallback. It must not be mistaken for retrieved evidence.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408272-D6A5-5132-33E2-F35391B125A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17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Prioritize provenance, clear failure behavior, test coverage and governance before expansion.</a:t>
            </a:r>
            <a:endParaRPr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Next operating cycle: deployment evidence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51147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Decision requests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1. Confirm a non-clinical deployment boundary.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2. Fund safety, provenance and privacy work before live patient data.</a:t>
            </a:r>
          </a:p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3. Review evidence and test coverage in the next operating cycle.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Make fallback an explicit offline/error state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Verify guideline currency and provenance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Add API, retrieval, schema &amp; end-to-end tests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Add authentication, audit logging &amp; privacy controls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Validate broader specialty scope before expansion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567BC5C-65A7-7445-018D-E76E0A9441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9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800">
                <a:solidFill>
                  <a:schemeClr val="accent3"/>
                </a:solidFill>
              </a:rPr>
              <a:t>Decision requests</a:t>
            </a:r>
          </a:p>
          <a:p xmlns:a="http://schemas.openxmlformats.org/drawingml/2006/main">
            <a:r>
              <a:rPr sz="6800">
                <a:solidFill>
                  <a:schemeClr val="accent3"/>
                </a:solidFill>
              </a:rPr>
              <a:t>for the next 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Confirm safety and governance priorities</a:t>
            </a:r>
          </a:p>
          <a:p xmlns:a="http://schemas.openxmlformats.org/drawingml/2006/main">
            <a:r>
              <a:rPr sz="1800">
                <a:solidFill>
                  <a:schemeClr val="accent3"/>
                </a:solidFill>
              </a:rPr>
              <a:t>before widening scope.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Clinical Guideline RAG Copilot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2026-08-20T05:59:35.7100000Z</dcterms:created>
  <dcterms:modified xsi:type="dcterms:W3CDTF">2026-08-20T05:59:35.7100000Z</dcterms:modified>
</coreProperties>
</file>